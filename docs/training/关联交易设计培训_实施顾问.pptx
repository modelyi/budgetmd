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开场（2 分钟）：本课件面向实施顾问，目标是让顾问能独立完成关联交易相关的调研、配置、联调与验收。全篇内容与系统内 BJ.C.R 集团合并抵销规则、BO.ELIM 集团合并抵销工作底稿、T5 内部关联交易方案一致，可现场对照系统页面讲解。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先对齐目标再讲细节：顾问最容易“会配置但讲不清准则依据”，本课把判据、口径、准则依据、验收证据四件事串成一条线。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页次仅供翻页定位；客户只关心某一模块时可直接跳到模块三（合并抵销）或模块四（验收）。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模块一定位：统一语言。顾问先理解“单体真实、合并还原”的双层结构，后面所有配置与抵销才讲得通。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这页是全课地基。客户常问“内部交易为什么不能直接对冲掉”，答案是：单体必须真实纳税，合并才做抵销；抵销产生税会差异，所以才有递延所得税。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判据单一是本设计最重要的简化：不要引入“是否开票”“是否付款”等第二判据，否则配置与取数会发散。现场可用一个客户真实业务抽查。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销售与税务关注点是这一页；顾问在方案评审时被问到最多的就是“内部缴税要不要抵销”，答案是不抵销。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模块二按场景讲，每个场景三件事：谁跟谁交易、在哪些表填、合并层怎么抵销。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这张表建议打印带进调研会：客户说“我们有内部租赁”时，直接定位到第五行，确认表、责任人、结算节奏。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代采两个场景差异只在资产 vs 物料：资产到货即入 B 的卡片并开始折旧，物料进 B 的存货按类别滚动。答疑高频点是“预付款要不要在我这张表重算”——不重算。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技术服务是最容易被漏判的场景：物料出库成本+加成、人工工时费率+加成，两条线都要判法人。顾问调研时要问到“有没有兄弟公司来人驻场支持”。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租赁与借款是抵销难度最高的两类：租赁涉及使用权资产整体消除，借款涉及“费用抵销 + 往来轧差 + 本金偿付”三条线。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这个场景常被遗漏在调研清单之外。抽查方式：问客户“去年有没有在两家公司之间调拨过设备”，有则必须配好 BJ.C.d 与 AA.9 资产类别。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加成比例是关联交易模块的第一配置项，也是审计抽查点。建议在调研阶段与客户财务确认“服务费定价依据”，并把比例写入方案附件。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这页是配置阶段的作业底稿。顾问配置完自检一遍，再由第二人复核，避免“配置漏项”在联调阶段才暴露。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模块三是本课的核心：顾问需要能对着客户的分录质疑与税务口径逐条回应。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总纲页用于建立索引：客户提到任何一类内部交易，都能落到某条规则。规则一~三管当期损益与往来，规则四~六管跨期未实现损益，规则七管平衡与合规底线。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这三条是“抵销不留痕”的基础：当期发生的内部规模和往来余额都要清掉。注意规则三里对外缴税不抵销这条最容易被客户要求“合并层也冲掉”，必须守住。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规则四、五是本课程与旧方案差异最大的地方：旧口径允许“原值平移转出/零持有”“不提递延税”，现行设计已全面废除。顾问必须能解释“为什么要确认递延所得税资产”——税会差异不是选择项。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规则七是结账前的自检清单。顾问在联调阶段应把五条校验逐条跑通，尤其是第④条现金流勾稽——它是内部对冲是否做干净的最直接证据。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底稿是唯一抵销台账：客户问“抵销数从哪来”，答案是 BO.ELIM 六行，且每行可追溯到源表。注意 ELIM-06 必须有金额，否则说明未实现利润未确认递延所得税。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这页是差异化卖点，也是实施顾问最容易被客户挑战的地方。建议现场打开 BO.ELIM 底稿，指出 ELIM-06 行与“所得税费用（调减）/递延所得税资产（调增）”的列示。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模块四给顾问可直接复用的动作清单。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实施顺序不可颠倒：场景确认决定配置范围，配置决定联调用例。很多项目在“没有测试用例”的情况下联调，结果只能在关账时暴露问题。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验收清单可直接作为项目里程碑的检查表。建议每项都留证据（报表截图/底稿导出），避免“口头确认”。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这页是给客户“改口径”的挡箭牌：把已废除的做法写清楚，顾问在方案评审时可直接引用，避免项目中期被要求回退到非准则口径。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 用于答疑收尾。若客户追问更细的口径（如无 PO 拆分比例 BAA.9.a），引导至对应主数据表页面演示。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附录用于现场速查。建议与《集团合并抵销规则》页面配合：规则页看口径，底稿页看结果，科目表看分录落点。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收尾：确认听众是否覆盖四个模块目标，并约定课后作业——用客户真实业务填一份场景确认单 + 跑一轮验收清单。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关联交易设计与集团合并抵销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3272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93B4E0"/>
                </a:solidFill>
                <a:latin typeface="微软雅黑"/>
                <a:ea typeface="微软雅黑"/>
                <a:cs typeface="微软雅黑"/>
              </a:rPr>
              <a:t>实施顾问培训 · 从业务场景到 BO.ELIM 合并抵销底稿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2926080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C7D9F0"/>
                </a:solidFill>
                <a:latin typeface="微软雅黑"/>
                <a:ea typeface="微软雅黑"/>
                <a:cs typeface="微软雅黑"/>
              </a:rPr>
              <a:t>六大内部交易场景 · 加成与结算口径 · CAS 33 / CAS 18 抵销与递延所得税 · 六类抵销事项底稿 · 实施验收清单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8FA6C4"/>
                </a:solidFill>
                <a:latin typeface="微软雅黑"/>
                <a:ea typeface="微软雅黑"/>
                <a:cs typeface="微软雅黑"/>
              </a:rPr>
              <a:t>设备制造行业全面预算编制与分析系统  |  集团合并视角  | 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培训目标与适用对象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6766560" cy="5120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判断能力：用唯一判据判断一笔业务是否构成跨法人内部交易，并说明触发的系统行为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配置能力：按清单完成法人、管理单元、项目、存货/资产类别与 BAA.11 加成比例配置，并复核计算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讲解能力：向客户讲清“单体真实核算 + 合并还原对外真实”的双层逻辑与四流一致要求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合规能力：依据 CAS 33 / CAS 18 回答“为什么要确认递延所得税资产、为什么要按月结算内部往来”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验收能力：按上线验收 10 项清单独立完成一轮合并抵销验证与问题定位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960120"/>
            <a:ext cx="4206240" cy="182880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960120"/>
            <a:ext cx="54864" cy="1828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59" y="1051560"/>
            <a:ext cx="384047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适用对象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344168"/>
            <a:ext cx="3840479" cy="1371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实施顾问 / 配置顾问：模块一、二、四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合并报表顾问：模块三、四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客户财务关键用户：模块一、三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291840"/>
            <a:ext cx="4206240" cy="2194560"/>
          </a:xfrm>
          <a:prstGeom prst="rect">
            <a:avLst/>
          </a:prstGeom>
          <a:solidFill>
            <a:srgbClr val="F3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3291840"/>
            <a:ext cx="54864" cy="2194560"/>
          </a:xfrm>
          <a:prstGeom prst="rect">
            <a:avLst/>
          </a:prstGeom>
          <a:solidFill>
            <a:srgbClr val="0F7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59" y="3383280"/>
            <a:ext cx="384047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764E"/>
                </a:solidFill>
                <a:latin typeface="微软雅黑"/>
                <a:ea typeface="微软雅黑"/>
                <a:cs typeface="微软雅黑"/>
              </a:rPr>
              <a:t>建议时长与节奏（可裁剪）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3675888"/>
            <a:ext cx="3840479" cy="1737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模块一 设计基础与判据 —— 20 分钟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模块二 六大场景与配置 —— 45 分钟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模块三 合并抵销与底稿 —— 45 分钟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模块四 落地、验收与答疑 —— 30 分钟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合计约 140 分钟；半天版建议裁剪场景四/五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课程结构：四个模块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导论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51560"/>
          <a:ext cx="11155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0880"/>
                <a:gridCol w="4919040"/>
                <a:gridCol w="2635200"/>
                <a:gridCol w="7905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关键交付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页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模块一 · 设计基础与判据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多法人双层逻辑、唯一判据、四流一致与真实纳税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判据表、场景确认清单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5–7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模块二 · 六大业务场景与配置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统购物料/设备、内部调拨、技术服务、职场租赁、资金借贷、资产转卖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配置清单、加成与结算口径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9–18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模块三 · 合并抵销与底稿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BJ.C.R 规则一~七、BO.ELIM 六类事项、递延所得税专项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抵销分录对照表、底稿核对表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20–25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模块四 · 落地与验收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实施五步、上线验收 10 项、FAQ 与陷阱对照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验收清单、问题定位路径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27–31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模块一 · 设计基础与判据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FBAE2"/>
                </a:solidFill>
                <a:latin typeface="微软雅黑"/>
                <a:ea typeface="微软雅黑"/>
                <a:cs typeface="微软雅黑"/>
              </a:rPr>
              <a:t>本模块回答三个问题：为什么要设计？怎么判断一笔交易？哪些红线不能碰？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前提一：单体是独立主体，集团才需要抵销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模块一 · 判据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5120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多法人集团 = 多个独立纳税主体 + 多个独立会计主体；跨法人往来不是账面倒账，而是真实商业行为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单体层：各子公司按企业会计准则独立核算（CAS 14 收入、CAS 21 租赁），独立申报缴纳增值税与企业所得税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合并层：执行 CAS 33《合并财务报表》——内部购销、往来、资金划拨、未实现内部损益全额抵销，只保留对集团外部第三方的真实经营成果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差异处理：抵销内部未实现损益后，合并资产账面价值低于所属法人计税基础，形成可抵扣暂时性差异，须依 CAS 18 与 CAS 33 第二十八条确认递延所得税资产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对顾问的含义：单一业务表既服务“单体账”，也服务“合并抵销取数”，两套口径必须同时正确——改一处必查另一处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判据：这笔业务是否构成内部交易？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模块一 · 判据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05840"/>
          <a:ext cx="1115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737360"/>
                <a:gridCol w="52120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情形（判据：内部供应商归属法人 vs 签约主体法人）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是否构成内部交易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系统行为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相同 —— 同一法人自行交付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不确认 6001.2 内部销售收入、不产生 1221.1/2241.1 内部往来、合并层无抵销；成本构成仅作分析展示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不同 —— 其他法人提供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提供方确认 6001.2（+加成）并转出存货，签约方承接存货/资产与 2241.1，参与内部销售分录与合并抵销取数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留空 —— 集团直营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同“相同”处理，不构成内部交易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4206240"/>
            <a:ext cx="11155680" cy="182880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4206240"/>
            <a:ext cx="54864" cy="1828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297679"/>
            <a:ext cx="107899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实施要点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90288"/>
            <a:ext cx="10789919" cy="1371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只有「关系=不同」的行参与内部销售分录与合并抵销取数；「关系=相同」的行照列但标注「不触发（同法人）」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代采购场景同一判据：下单主体（提供方 A，对外签约付款）与受益主体（接受方 B，实际使用）是否同一法人；同法人 = 自购自用，加成款为 0、留「—」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内部供应商列属于交易路径管理岗维护字段（取值自供应商主数据），顾问需在调研阶段确认该岗位与职责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前提二：四流一致与真实纳税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模块一 · 判据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6675120" cy="5120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四流一致：合同流、发票流、资金流、货物流（服务流）必须一致，杜绝无真实业务、无发票、无资金划拨的虚拟空转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真实开票与计税：货物销售 13%、服务与代采加成 6%、职场租赁 9%，卖方如实开具增值税专用发票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单体独立申报：各子公司每月向所属税局申报销项与进项，实际缴纳增值税及附加，形成对外真实现金流出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合并层不抵销对外支出：向税务局缴纳的税费、向外部供应商支付的采购款属于对外真实支出，合并层全额保留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内部借款利息：属贷款服务，借入方取得的贷款服务进项税额不得抵扣，税负在单体真实沉淀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960120"/>
            <a:ext cx="4297680" cy="1828800"/>
          </a:xfrm>
          <a:prstGeom prst="rect">
            <a:avLst/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960120"/>
            <a:ext cx="54864" cy="18288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19" y="1051560"/>
            <a:ext cx="3931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为什么坚持四流一致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19" y="1344168"/>
            <a:ext cx="3931920" cy="1371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税务风险：无真实业务的关联往来在转让定价与反避税上无解释空间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系统一致性：资金流不真实，现金流量表内部对冲就会与货币资金勾稽不符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3520440"/>
            <a:ext cx="4297680" cy="2194560"/>
          </a:xfrm>
          <a:prstGeom prst="rect">
            <a:avLst/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3520440"/>
            <a:ext cx="54864" cy="2194560"/>
          </a:xfrm>
          <a:prstGeom prst="rect">
            <a:avLst/>
          </a:prstGeom>
          <a:solidFill>
            <a:srgbClr val="B4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3611880"/>
            <a:ext cx="3931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41B1B"/>
                </a:solidFill>
                <a:latin typeface="微软雅黑"/>
                <a:ea typeface="微软雅黑"/>
                <a:cs typeface="微软雅黑"/>
              </a:rPr>
              <a:t>常见误解（顾问必答）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3904488"/>
            <a:ext cx="3931920" cy="1737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“内部交易合并层都抵销，单体就不用认真做” → 错，单体是纳税主体，错一分钱都是税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“内部往来挂账很正常” → 错，须按月划款或资金池结算，合并层余额必须归零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“代采购要不要算预付款” → 法人之间不考虑预付款，只认到货额与加成款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模块二 · 六大业务场景与关键配置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FBAE2"/>
                </a:solidFill>
                <a:latin typeface="微软雅黑"/>
                <a:ea typeface="微软雅黑"/>
                <a:cs typeface="微软雅黑"/>
              </a:rPr>
              <a:t>从业务实质出发，讲清每类场景的表、字段、加成与结算口径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六大内部关联交易场景总览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模块二 · 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960120"/>
          <a:ext cx="11292839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173"/>
                <a:gridCol w="2885032"/>
                <a:gridCol w="2720173"/>
                <a:gridCol w="2967461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业务表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内部交易表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合并抵销出处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 · 原材料及零部件统购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BB.3.3.D 关联交易视角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BJ.C.a 代采购物料查询表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BO.ELIM ①内部购销 + ④存货未实现利润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 · 生产设备及仪器统购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BB.3.1.D 关联交易视角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BJ.C.e 代采购资产查询表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BO.ELIM ①内部购销 + ⑤长期资产未实现利润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 · 整机产品内部调拨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BB.1.2.d 内部交易视角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BJ.C.g 内部销售预算（只读查询）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BO.ELIM ①内部购销 + ④期末存货加成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 · 跨法人技术服务支持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BB.1.3（物料/人工明细内部供应商列）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BB.1.3.j / 明细查询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BO.ELIM ①内部购销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 · 内部职场与厂房租赁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BB.4.2.b / BB.4.2.b.1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BB.4.2.b 内部职场租赁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BO.ELIM ①内部租赁 + ⑥租赁还原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六 · 内部资金池借贷拆借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BJ.C.f 内部借款预算表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BJ.C.f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BO.ELIM ①利息对冲 + ②往来轧差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074920"/>
            <a:ext cx="11292840" cy="105156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074920"/>
            <a:ext cx="54864" cy="1051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166359"/>
            <a:ext cx="109270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顾问口径提示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58968"/>
            <a:ext cx="10927080" cy="59435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场景三（BJ.C.g）、代采购两表（BJ.C.a / BJ.C.e）均为只读查询表：表样与对应“内部交易视角”一致，只做汇总展示与合并抵销取数，不做业务生成、不生成分录——避免同一笔内部销售两处登记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场景一 / 二 · 统购代采（物料与设备）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模块二 · 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6583680" cy="5212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业务实质：采购平台公司（下单主体 A）对外统购，平价转移给使用方（受益主体 B），另收 BAA.11 加成服务费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结算口径：A 侧对外采购与付款金额不变；代采购表只补“转移平价 + 加成 + 内部结算”三笔，不改变物料/资产/费用金额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物料场景：转移按「物料类别」对应到 BB.3.X 同类别行（A 方法人转出 −、B 方法人转入 +），加成随领用结转成本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设备场景：一行一卡，卡片只在接受方 B 建，到货月即转移月、即启用月，A 侧零持有、零折旧；加成随卡片折旧经 BB.4.5 按 BAA.9.b 拆入四大费用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同一判据：下单主体与受益主体同法人 = 自购自用，加成比例留「—」、加成款为 0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口径铁律：法人之间不考虑预付款——关联交易表（BB.3.1.D / BB.3.3.D 及查询表 BJ.C.a / BJ.C.e）只列「到货额 + 加成款」；内部结算 = 月度到货额 + 月度加成款（含税）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914400"/>
            <a:ext cx="4462272" cy="201168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69480" y="914400"/>
            <a:ext cx="54864" cy="2011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005840"/>
            <a:ext cx="4096511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加成款计算公式（两表同源）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298448"/>
            <a:ext cx="4096511" cy="1554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加成款 = 当月到货额 × 加成比例 ÷ (1 + 加成比例)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到货额 = 含加成完整转移价；即接受方存货成本 / 资产入账原值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加成比例来自 BAA.11：内部交易类型（代采购物料 / 代采购资产 / 内部职场租赁 / 资产转卖）× 预算项目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3611880"/>
            <a:ext cx="4462272" cy="2423160"/>
          </a:xfrm>
          <a:prstGeom prst="rect">
            <a:avLst/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69480" y="3611880"/>
            <a:ext cx="54864" cy="24231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3703320"/>
            <a:ext cx="4096511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法人之间不考虑预付款（口径）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995928"/>
            <a:ext cx="4096511" cy="1965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关联交易表只列「到货额 + 加成款」两个度量，不设预付款／验收付款列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对外采购的预付款与验收付款只在采购侧（BB.3.1.A/.B、BB.3.3.A/.B）与财务视角（BB.3.1.C、BB.3.3.C）体现，驱动 CF-14 / CF-05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法人之间的资金关系只有一条：内部结算 = 月度到货额 + 月度加成款（含税，按月划款或资金池结清）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场景三 / 四 · 内部调拨与技术服务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模块二 · 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6309360" cy="5212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整机调拨（BB.1.2.d → BJ.C.g）：制造基地完工后调拨给商业销售公司签约对外出货；提供方法人确认 6001.2 内部销售收入（含加成）并转出存货，签约主体法人承接存货与 2241.1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技术服务（BB.1.3）：物料明细按“出库成本 + 加成款”结算，人工明细按工时标准成本 + 加成；物料明细与人工明细各设「内部供应商」列承载内部供货关系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取数范围：只取「关系=不同」的行进本表汇总与抵销；同法人行照列但标注不触发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查询表定位：BJ.C.g 与内部交易视角表样完全一致，只做汇总展示与合并抵销，不重复登记、不生成分录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914400"/>
            <a:ext cx="4782312" cy="182880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914400"/>
            <a:ext cx="54864" cy="1828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05840"/>
            <a:ext cx="4416552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两个岗位、两类动作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298448"/>
            <a:ext cx="4416552" cy="1371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业务/交易路径管理岗：维护内部供应商列（AA.10 供应商主数据、类型=内部）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财务视角：偏差只做口径复核，不改业务数；法人归属与成本拆分由系统自动完成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3429000"/>
            <a:ext cx="4782312" cy="2011680"/>
          </a:xfrm>
          <a:prstGeom prst="rect">
            <a:avLst/>
          </a:prstGeom>
          <a:solidFill>
            <a:srgbClr val="F3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0" y="3429000"/>
            <a:ext cx="54864" cy="2011680"/>
          </a:xfrm>
          <a:prstGeom prst="rect">
            <a:avLst/>
          </a:prstGeom>
          <a:solidFill>
            <a:srgbClr val="0F7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520440"/>
            <a:ext cx="4416552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764E"/>
                </a:solidFill>
                <a:latin typeface="微软雅黑"/>
                <a:ea typeface="微软雅黑"/>
                <a:cs typeface="微软雅黑"/>
              </a:rPr>
              <a:t>期末未实现利润从哪来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813048"/>
            <a:ext cx="4416552" cy="1554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接受方期末仍未对外销售的存货，其中所含加成即“未实现内部利润”，由 BB.3.X 期末内部加成余额（internalClosing）承载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长期资产中的加成由 BB.4.5 内部加成卡片各月折旧额承载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两者是 BO.ELIM 第④⑤类抵销与递延所得税（ELIM-06）的唯一取数源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场景五 / 六 · 内部职场租赁与资金借贷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模块二 · 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6035040" cy="5212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内部职场租赁（BB.4.2.b / BB.4.2.b.1）：物业持有法人出租给使用法人；加成比例按预算项目取 BAA.11（内部交易类型=内部职场租赁）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资本化判定：租期 &gt; 12 个月 → 资本化，承租方确认使用权资产与租赁负债，折旧由 BB.4.5 计提、经 BB.4.X.A 进四大费用；租期 ≤ 12 个月 → 费用化，租金直接进管理费用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内部资金借贷（BJ.C.f）：登记借款方向（借入/借出）、本方法人与对手方法人、利率、期限、到期时间与期初净额；按期借还本金、按约定年利率结算利息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利息税务口径：贷款服务进项税额不得抵扣，利息税负在单体财务费用中真实沉淀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914400"/>
            <a:ext cx="5056632" cy="182880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914400"/>
            <a:ext cx="54864" cy="1828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005840"/>
            <a:ext cx="4690872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租赁资本化判定（同源算法）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298448"/>
            <a:ext cx="4690872" cy="1371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租赁期限(月) = 租赁期终止月 − 租赁期起始月 + 1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开始日判定后不重分类；同一场所不同合同各自登记、各自判断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外租（BB.4.2.a）与内部租赁（BB.4.2.b）算法同源但口径分开：外部租赁不参与集团合并抵销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520440"/>
            <a:ext cx="5056632" cy="1828800"/>
          </a:xfrm>
          <a:prstGeom prst="rect">
            <a:avLst/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3520440"/>
            <a:ext cx="54864" cy="1828800"/>
          </a:xfrm>
          <a:prstGeom prst="rect">
            <a:avLst/>
          </a:prstGeom>
          <a:solidFill>
            <a:srgbClr val="B4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611880"/>
            <a:ext cx="4690872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41B1B"/>
                </a:solidFill>
                <a:latin typeface="微软雅黑"/>
                <a:ea typeface="微软雅黑"/>
                <a:cs typeface="微软雅黑"/>
              </a:rPr>
              <a:t>顾问易错点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904488"/>
            <a:ext cx="4690872" cy="1371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把外部租赁套进内部租赁口径 → 造成错误抵销；两套口径不得混用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内部租赁只抵租金不抵使用权资产 → 合并层会残留集团内部资产与负债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利息只抵费用不核销往来本金 → 1221.1/2241.1 期末无法轧平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场景补充 · 存量资产内部转卖（BJ.C.d）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模块二 · 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5212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业务实质：存量资产在集团内法人之间买卖 —— 卖方通过资产处置表填报减少（原值、累计折旧、净值），买方通过其他固定资产新增表填报增加，原值自动汇入 BB.4.5 续提折旧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定价口径：账面价值 + 关联交易加成；加成收入 = 账面净值 × 加成比例（BAA.11，内部交易类型=资产转卖）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表内字段：卖方/买方法人、资产描述、资产类别（AA.9）、加成比例、剩余折旧期限(月)、账面净值、加成收入（公式）、转卖价(不含税)（公式）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卖方单体：加成部分确认资产处置收益（6115）；买方单体：按转卖价入账并在剩余折旧期限内续提折旧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合并层：全额抵销卖方 6115 加成收益与买方资产增值，并按规则五消除未实现加成原值、冲减多计提折旧，确认相应递延所得税资产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关键配置一 · BAA.11 关联交易加成比例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模块二 · 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960120"/>
          <a:ext cx="676655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9231"/>
                <a:gridCol w="2330704"/>
                <a:gridCol w="2706624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内部交易类型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适用场景表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加成款落点（单体）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代采购物料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BJ.C.a 代采购物料查询表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提供方 6001.2 / 接受方存货成本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代采购资产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BJ.C.e 代采购资产查询表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提供方 6001.2 / 接受方资产原值与折旧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内部职场租赁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BB.4.2.b 内部职场租赁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出租方 6001.2 / 承租方租金或折旧+利息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资产转卖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BJ.C.d 资产转卖预算表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卖方 6115 资产处置收益 / 买方资产增值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452360" y="960120"/>
            <a:ext cx="4279392" cy="201168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960120"/>
            <a:ext cx="54864" cy="2011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051560"/>
            <a:ext cx="3913631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配置维度：类型 × 预算项目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344168"/>
            <a:ext cx="3913631" cy="1554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主键 = 内部交易类型 + 预算项目（AA.6）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未配置 = 无加成比例带出、加成款为 0，抵销仍成立但服务费口径缺失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变更加成比例会影响：加成款、双方收入/成本、递延所得税基数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3474720"/>
            <a:ext cx="4279392" cy="1828800"/>
          </a:xfrm>
          <a:prstGeom prst="rect">
            <a:avLst/>
          </a:prstGeom>
          <a:solidFill>
            <a:srgbClr val="F3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3474720"/>
            <a:ext cx="54864" cy="1828800"/>
          </a:xfrm>
          <a:prstGeom prst="rect">
            <a:avLst/>
          </a:prstGeom>
          <a:solidFill>
            <a:srgbClr val="0F7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3566160"/>
            <a:ext cx="3913631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764E"/>
                </a:solidFill>
                <a:latin typeface="微软雅黑"/>
                <a:ea typeface="微软雅黑"/>
                <a:cs typeface="微软雅黑"/>
              </a:rPr>
              <a:t>复核方法（顾问自检）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858768"/>
            <a:ext cx="3913631" cy="1371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抽一行：加成款 ÷ 到货额 = 比例 ÷ (1+比例)，反算比例须与 BAA.11 一致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全年加成款 = 全年到货额 × 加成比例（表内公式口径）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同法人行：加成比例「—」、加成款 0，不得带出比例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关键配置二 · 主数据与参数检查清单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模块二 · 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914400"/>
          <a:ext cx="11292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286000"/>
                <a:gridCol w="63550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配置项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检查点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法人组织架构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AA.2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法人清单完整；内部往来科目 1221.1 / 2241.1 可用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管理单元主数据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AA.8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下单主体（管理单元）可指认到法人；受益主体可识别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预算项目主数据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AA.6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加成比例与资产卡片的项目维度一致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存货物料类别字典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AB.9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物料类别完整（大类+小类），代采购转移可按类别对应 BB.3.X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资产类别与折旧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AA.9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折旧年限（月）、残值率（固定资产 5%、无形资产 0%）、折旧惯例（默认下月折）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供应商主数据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AA.10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内部供应商已标记类型=内部，供内部供应商列引用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关联交易加成比例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BAA.11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四类内部交易类型 × 预算项目逐项配置并复核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采购付款比例 / 拆分比例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BAA.7 / BAA.9.a / BAA.9.b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预付款与验收付款节奏、资产法人拆分、折旧进四大费用比例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模块三 · 合并抵销与 BO.ELIM 底稿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FBAE2"/>
                </a:solidFill>
                <a:latin typeface="微软雅黑"/>
                <a:ea typeface="微软雅黑"/>
                <a:cs typeface="微软雅黑"/>
              </a:rPr>
              <a:t>BJ.C.R 规则一~七 · 六类抵销事项 · 递延所得税专项 · 三表勾稽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BJ.C.R 集团合并抵销规则总纲（规则一~七）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模块三 · 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896112"/>
          <a:ext cx="11384280" cy="4361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834640"/>
                <a:gridCol w="46177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准则依据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一句话要点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规则一 内部购销与劳务对冲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CAS 33 第十三条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收入 ↔ 成本/费用等额冲销；含内部租赁与内部借款利息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规则二 内部往来借贷配对轧差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CAS 33 第十一条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1221.1 ↔ 2241.1 两两配对全额对冲，合并层不保留内部往来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规则三 内部结算现金流对冲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CAS 33 第二十六条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内部划款收付等额对冲；对外采购款与对外缴税现金流不抵销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规则四 期末存货未实现损益与递延所得税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CAS 33 第十三~十六条、CAS 18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冲销存货中未实现加成，并确认递延所得税资产（1811 ↔ 6801）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规则五 长期资产未实现损益、折旧与递延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CAS 33 第二十三~二十五条、CAS 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消除资产原值加成、冲减多提折旧、确认递延所得税资产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规则六 内部租赁使用权资产与折旧还原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CAS 21 &amp; CAS 33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整体消除使用权资产与租赁负债，还原出租方自有资产折旧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规则七 合规性与三表勾稽平衡校验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CAS 33 / CAS 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五项自动校验：两端强等、往来归零、BS 平衡、CF 勾稽、审计穿透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规则一~三 · 当期对冲与轧差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模块三 · 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5486400" cy="219456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54864" cy="2194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5120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规则一 · 内部购销与劳务对冲（CAS 33 第十三条）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98448"/>
            <a:ext cx="5120640" cy="1737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借：营业收入—内部销售 (6001.2)　贷：营业成本—内部采购 (6401.1/6401.2)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内部职场租赁：借 其他业务收入—内部租赁 (6001.2)　贷 管理费用/制造费用 (6602/5001)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内部借款利息：借 其他业务收入/利息收入 (6001.2)　贷 财务费用—利息支出 (6604.1)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校验：同一笔业务两端金额必须相等，不等则系统阻断出表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914400"/>
            <a:ext cx="5486400" cy="1828800"/>
          </a:xfrm>
          <a:prstGeom prst="rect">
            <a:avLst/>
          </a:prstGeom>
          <a:solidFill>
            <a:srgbClr val="F3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914400"/>
            <a:ext cx="54864" cy="1828800"/>
          </a:xfrm>
          <a:prstGeom prst="rect">
            <a:avLst/>
          </a:prstGeom>
          <a:solidFill>
            <a:srgbClr val="0F7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005840"/>
            <a:ext cx="5120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764E"/>
                </a:solidFill>
                <a:latin typeface="微软雅黑"/>
                <a:ea typeface="微软雅黑"/>
                <a:cs typeface="微软雅黑"/>
              </a:rPr>
              <a:t>规则二 · 内部往来借贷配对轧差（第十一条）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298448"/>
            <a:ext cx="5120640" cy="1371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借：其他应付款—内部往来 (2241.1)　贷：其他应收款—内部往来 (1221.1)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专用科目：统一使用 1221.1 / 2241.1，严禁混用外部商业应收应付科目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结算要求：各法人通过银行划款或资金池按月结算，期末挂账在合并层全额抵销清零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201400" cy="1828800"/>
          </a:xfrm>
          <a:prstGeom prst="rect">
            <a:avLst/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54864" cy="18288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10835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规则三 · 内部结算现金流对冲（第二十六条）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21608"/>
            <a:ext cx="10835640" cy="1371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合并层：内部划款收付等额双向对冲，消除内部资金调拨，只保留对外部第三方的真实收支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真实对外支出不抵销：① 下单方直接付给外部供应商的采购款（CF-05、CF-14）保留在采购现金流；② 各子公司向国家税务局实际缴纳的增值税及附加（CF-07）在合并层全额保留，绝不抵销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单体现金流量表如实反映内部经营、投资或筹资活动资金流动性（CF-03/08、CF-13.3/16.2、CF-18~22），供单体流动性监控使用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规则四 / 五 · 未实现损益与递延所得税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模块三 · 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96112"/>
            <a:ext cx="5532120" cy="3017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896112"/>
            <a:ext cx="54864" cy="30175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87552"/>
            <a:ext cx="516635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规则四 · 期末存货（CAS 33 第十三~十六条、CAS 18）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5166359" cy="2560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① 当期内部交易消除：</a:t>
            </a:r>
          </a:p>
          <a:p>
            <a:pPr lvl="1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– 借：营业收入（内部销售金额）</a:t>
            </a:r>
          </a:p>
          <a:p>
            <a:pPr lvl="1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– 贷：营业成本（对外销售成本 + 未实现销售利润）</a:t>
            </a:r>
          </a:p>
          <a:p>
            <a:pPr lvl="1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– 贷：存货 (1405)（期末未实现内部加成毛利）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② 确认递延所得税资产（第二十八条、CAS 18）：</a:t>
            </a:r>
          </a:p>
          <a:p>
            <a:pPr lvl="1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– 抵销存货加成毛利 → 合并存货账面价值 &lt; 法人计税基础</a:t>
            </a:r>
          </a:p>
          <a:p>
            <a:pPr lvl="1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– 形成可抵扣暂时性差异 → 借 递延所得税资产 (1811) × 25%</a:t>
            </a:r>
          </a:p>
          <a:p>
            <a:pPr lvl="1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– 贷：所得税费用 (6801)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③ 存货后续对外售出时，加成转为已实现，抵销分录冲回、同步转回递延所得税资产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896112"/>
            <a:ext cx="5486400" cy="3383280"/>
          </a:xfrm>
          <a:prstGeom prst="rect">
            <a:avLst/>
          </a:prstGeom>
          <a:solidFill>
            <a:srgbClr val="F3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896112"/>
            <a:ext cx="54864" cy="3383280"/>
          </a:xfrm>
          <a:prstGeom prst="rect">
            <a:avLst/>
          </a:prstGeom>
          <a:solidFill>
            <a:srgbClr val="0F7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987552"/>
            <a:ext cx="5120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764E"/>
                </a:solidFill>
                <a:latin typeface="微软雅黑"/>
                <a:ea typeface="微软雅黑"/>
                <a:cs typeface="微软雅黑"/>
              </a:rPr>
              <a:t>规则五 · 长期资产（第二十三~二十五条、CAS 18）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280160"/>
            <a:ext cx="5120640" cy="2926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业务范围：统购设备转让（BB.3.1.D / BJ.C.e）、二手设备内部转卖（BJ.C.d）原值中的内部加成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① 购入当期消除初始加成原值：</a:t>
            </a:r>
          </a:p>
          <a:p>
            <a:pPr lvl="1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– 借：资产处置收益 (6115) / 其他业务收入 (6001.2)</a:t>
            </a:r>
          </a:p>
          <a:p>
            <a:pPr lvl="1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– 贷：固定资产——原价 (1601)（加成原值）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② 使用期内冲减多计提折旧：</a:t>
            </a:r>
          </a:p>
          <a:p>
            <a:pPr lvl="1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– 借：固定资产——累计折旧 (1602)</a:t>
            </a:r>
          </a:p>
          <a:p>
            <a:pPr lvl="1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– 贷：管理费用 / 研发费用 / 制造费用（折旧费用）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③ 递延所得税资产 (1811) = 固定资产账面净值抵减额 × 25% ↔ 贷 所得税费用 (6801)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④ 资产处置时结转未实现内部利润与已计提的递延所得税资产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规则六 / 七 · 租赁还原与平衡校验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模块三 · 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96112"/>
            <a:ext cx="6035040" cy="320040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896112"/>
            <a:ext cx="54864" cy="3200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87552"/>
            <a:ext cx="566927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规则六 · 内部租赁使用权资产与折旧还原（CAS 21 &amp; CAS 33）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5669279" cy="2743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准则依据：单体承租方执行 CAS 21 确认使用权资产与租赁负债；但合并层标的本就是集团自有资产，不构成对外资产与负债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① 消除承租方确认的使用权资产与租赁负债：</a:t>
            </a:r>
          </a:p>
          <a:p>
            <a:pPr lvl="1">
              <a:lnSpc>
                <a:spcPct val="112000"/>
              </a:lnSpc>
              <a:spcAft>
                <a:spcPts val="300"/>
              </a:spcAft>
            </a:pPr>
            <a:r>
              <a:rPr sz="95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– 借：租赁负债 (2602)　贷：使用权资产 (1621)</a:t>
            </a:r>
          </a:p>
          <a:p>
            <a:pPr lvl="1">
              <a:lnSpc>
                <a:spcPct val="112000"/>
              </a:lnSpc>
              <a:spcAft>
                <a:spcPts val="300"/>
              </a:spcAft>
            </a:pPr>
            <a:r>
              <a:rPr sz="95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– 贷/借：年初未分配利润 / 管理费用（累计折旧及利息与租金的差额）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② 消除内部租金收入与折旧、利息费用：</a:t>
            </a:r>
          </a:p>
          <a:p>
            <a:pPr lvl="1">
              <a:lnSpc>
                <a:spcPct val="112000"/>
              </a:lnSpc>
              <a:spcAft>
                <a:spcPts val="300"/>
              </a:spcAft>
            </a:pPr>
            <a:r>
              <a:rPr sz="95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– 借：其他业务收入 (6001.2)（出租方内部租金收入）</a:t>
            </a:r>
          </a:p>
          <a:p>
            <a:pPr lvl="1">
              <a:lnSpc>
                <a:spcPct val="112000"/>
              </a:lnSpc>
              <a:spcAft>
                <a:spcPts val="300"/>
              </a:spcAft>
            </a:pPr>
            <a:r>
              <a:rPr sz="95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– 贷：管理费用 (6602)（承租方使用权资产折旧）</a:t>
            </a:r>
          </a:p>
          <a:p>
            <a:pPr lvl="1">
              <a:lnSpc>
                <a:spcPct val="112000"/>
              </a:lnSpc>
              <a:spcAft>
                <a:spcPts val="300"/>
              </a:spcAft>
            </a:pPr>
            <a:r>
              <a:rPr sz="95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– 贷：财务费用—利息支出 (6604.1)（承租方租赁负债利息）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③ 还原出租方自有固定资产的正常折旧：按原自有房产历史成本与折旧年限如实体现净值与折旧费用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896112"/>
            <a:ext cx="5074920" cy="2926080"/>
          </a:xfrm>
          <a:prstGeom prst="rect">
            <a:avLst/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896112"/>
            <a:ext cx="54864" cy="29260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987552"/>
            <a:ext cx="470915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规则七 · 五项自动平衡校验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280160"/>
            <a:ext cx="4709159" cy="2468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① 购销交易两端强等：卖方收入 = 买方成本/资产原值，不等阻断出表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② 内部往来完全轧差归零：1221.1 与 2241.1 抵销后余额必须绝对为 0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③ 资产负债表平衡：抵销调整后资产总计 = 负债与所有者权益总计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④ 现金流量表勾稽：抵销后“现金及现金等价物净增加额” = 资产负债表“货币资金”变动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⑤ 审计全链路穿透：BO.ELIM 每一笔抵销分录均可追溯至单体业务单据行与报表项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另有三条合规底线：全面执行 CAS 33 与 CAS 18；单体按税法真实开票、缴税在合并层全额保留；内部借款利息进项税依法不得抵扣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BO.ELIM 集团合并抵销工作底稿 · 六类抵销事项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模块三 · 底稿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914400"/>
          <a:ext cx="11292838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59"/>
                <a:gridCol w="3977639"/>
                <a:gridCol w="2286000"/>
                <a:gridCol w="2377440"/>
                <a:gridCol w="16002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抵销事项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抵销类型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影响 PL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影响 BS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ELIM-01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内部代采购销售与成本对冲（物料/资产）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内部购销对冲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其他业务收入 ↔ 营业成本/折旧费用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ELIM-02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内部往来余额对冲（1221.1 ↔ 2241.1）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内部往来对冲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其他应收款 ↔ 其他应付款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ELIM-03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内部现金流收付对冲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内部现金流对冲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ELIM-04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期末存货中未实现利润抵销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 未实现利润-存货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营业成本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存货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ELIM-05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期末固定资产/使用权资产中未实现利润抵销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⑤ 未实现利润-长期资产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折旧费用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固定资产净值 / 使用权资产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ELIM-06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内部未实现利润确认递延所得税（CAS 18/33）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⑥ 递延所得税确认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所得税费用（调减）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递延所得税资产（调增）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983480"/>
            <a:ext cx="11292840" cy="1188720"/>
          </a:xfrm>
          <a:prstGeom prst="rect">
            <a:avLst/>
          </a:prstGeom>
          <a:solidFill>
            <a:srgbClr val="F3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983480"/>
            <a:ext cx="54864" cy="1188720"/>
          </a:xfrm>
          <a:prstGeom prst="rect">
            <a:avLst/>
          </a:prstGeom>
          <a:solidFill>
            <a:srgbClr val="0F7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9270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764E"/>
                </a:solidFill>
                <a:latin typeface="微软雅黑"/>
                <a:ea typeface="微软雅黑"/>
                <a:cs typeface="微软雅黑"/>
              </a:rPr>
              <a:t>底稿机制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67528"/>
            <a:ext cx="1092708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数据全部由系统从业务源表（BJ.C 各表、BB.3.X、BB.4.5）按月读取生成，不需手工填写；每一笔抵销均可穿透至上游单据行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集团合并数 = 各子公司单体加总数 − 底稿抵销数；抵销金额按月汇总为合并三表的“内部抵销”调整列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递延所得税专项（ELIM-06）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模块三 · 底稿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6035040" cy="5212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形成原因：抵销未实现内部利润后，合并资产账面价值低于所属法人计税基础，形成可抵扣暂时性差异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计量口径：递延所得税资产 = 未实现内部利润余额 × 适用所得税率（示例配置 25%）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分录：借 递延所得税资产 (1811)　贷 所得税费用 (6801)——当期所得税费用调减、资产调增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转回机制：存货对外售出、长期资产折旧或处置使加成转为已实现时，抵销分录冲回，同步转回递延所得税资产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勾稽关系：ELIM-06 余额与 ELIM-04（存货未实现利润）+ ELIM-05（长期资产未实现利润）保持 25% 的税率比例关系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914400"/>
            <a:ext cx="5029200" cy="219456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914400"/>
            <a:ext cx="54864" cy="2194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005840"/>
            <a:ext cx="46634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顾问必须能回答的三个问题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298448"/>
            <a:ext cx="4663440" cy="1737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为什么不能“按税法口径直接合并”？→ 合并报表服务于会计信息，税会差异必须通过递延所得税体现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为什么税率用 25%？→ 取所属法人适用所得税率，示例口径 25%，实施时按客户实际税率配置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为什么要按月计算？→ 未实现利润逐月变化，递延所得税随之计提或转回，年度一次倒算会破坏月度勾稽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3474720"/>
            <a:ext cx="5029200" cy="2194560"/>
          </a:xfrm>
          <a:prstGeom prst="rect">
            <a:avLst/>
          </a:prstGeom>
          <a:solidFill>
            <a:srgbClr val="F3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3474720"/>
            <a:ext cx="54864" cy="2194560"/>
          </a:xfrm>
          <a:prstGeom prst="rect">
            <a:avLst/>
          </a:prstGeom>
          <a:solidFill>
            <a:srgbClr val="0F7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3566160"/>
            <a:ext cx="46634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764E"/>
                </a:solidFill>
                <a:latin typeface="微软雅黑"/>
                <a:ea typeface="微软雅黑"/>
                <a:cs typeface="微软雅黑"/>
              </a:rPr>
              <a:t>联调验证（3 步）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858768"/>
            <a:ext cx="4663440" cy="1737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① 确认 ELIM-06 行有金额，且 = （ELIM-04 + ELIM-05 期末余额）× 25% 口径可解释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② 检查合并 BS 递延所得税资产 (1811) 已调增、PL 所得税费用 (6801) 已调减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③ 抽查一笔存货对外销售月份：确认抵销与递延所得税同步冲回、无残留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模块四 · 落地、验收与答疑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FBAE2"/>
                </a:solidFill>
                <a:latin typeface="微软雅黑"/>
                <a:ea typeface="微软雅黑"/>
                <a:cs typeface="微软雅黑"/>
              </a:rPr>
              <a:t>实施五步 · 上线验收 10 项 · 陷阱对照 · 常见问答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实施五步与交付物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模块四 · 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914400"/>
          <a:ext cx="112928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846320"/>
                <a:gridCol w="4800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交付物 / 完成标志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场景确认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确认哪些法人间发生六类交易，逐场景登记责任人、结算节奏、定价依据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关联交易场景确认单（含同法人/跨法人判定）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配置落地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按主数据与参数检查清单配置 AA / AB / BAA 各项并双人复核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配置清单（签字版）+ 复核记录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填报培训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业务部门填业务数；交易路径管理岗维护内部供应商列；财务口径复核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填报口径指引 + 试点填报样本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 抵销联调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用一组跨法人测试用例跑通 ELIM-01~06 与三表勾稽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抵销联调记录（六类事项逐项对数）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⑤ 关账演练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按上线验收 10 项逐条验证，出具问题清单并闭环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验收报告 + 遗留问题清单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上线验收清单（10 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模块四 · 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5760720" cy="5212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① 主数据齐备：法人、管理单元、预算项目、存货类别、资产类别、内部供应商标记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② BAA.11 四类加成比例逐项配置；抽查一行反算比例与配置一致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③ 同法人行：加成比例「—」、加成款 0，不触发代采购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④ 代采购资产卡片只在接受方建、到货月即启用月、提供方零折旧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⑤ 内部往来按月结算，期末 1221.1 / 2241.1 余额可解释（足额结算即 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5486400" cy="5212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⑥ BO.ELIM ELIM-01~06 六行齐全；ELIM-06 有金额且与未实现利润×税率一致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⑦ 合并 BS 平衡：资产总计 = 负债 + 所有者权益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⑧ CF 勾稽：现金及现金等价物净增加额 = 货币资金变动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⑨ 合并层不保留内部往来余额；对外采购款与对外缴税现金流未被抵销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⑩ 底稿穿透：任一笔抵销可追溯到单体业务单据行与报表项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非准则做法 vs 准则正解（陷阱对照）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模块四 · 陷阱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914400"/>
          <a:ext cx="112928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19"/>
                <a:gridCol w="4206239"/>
                <a:gridCol w="49834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非准则做法（已废除，禁止配置）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准则正解（现行设计）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内部未实现利润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原值平移转出 / 零持有，存货与资产中加成不消除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消除存货 (1405) 与资产原值中的加成，按规则四/五抵销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递延所得税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不提递延税，合并层忽略税会差异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按未实现利润余额 × 适用税率确认递延所得税资产 (1811)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内部往来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常年挂账、期末余额不清理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按月银行划款或资金池结算；合并层 1221.1 / 2241.1 全额轧差归零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对外缴税现金流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把单体缴税、对外采购付款一并抵销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对外真实支出全额保留，仅抵销内部划款收付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内部租赁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只抵租金，使用权资产与租赁负债留在合并层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使用权资产 (1621) 与租赁负债 (2602) 整体消除，还原出租方折旧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892040"/>
            <a:ext cx="11292840" cy="1508760"/>
          </a:xfrm>
          <a:prstGeom prst="rect">
            <a:avLst/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892040"/>
            <a:ext cx="54864" cy="1508760"/>
          </a:xfrm>
          <a:prstGeom prst="rect">
            <a:avLst/>
          </a:prstGeom>
          <a:solidFill>
            <a:srgbClr val="B4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270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41B1B"/>
                </a:solidFill>
                <a:latin typeface="微软雅黑"/>
                <a:ea typeface="微软雅黑"/>
                <a:cs typeface="微软雅黑"/>
              </a:rPr>
              <a:t>管控要点（写入实施方案）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76088"/>
            <a:ext cx="1092708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严格遵循 CAS 33 与 CAS 18：抵销与递延所得税计提不可裁剪，彻底废除“原值平移转出/零持有”“不提递延税”等非准则处理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四流一致与真实缴税：杜绝无真实业务、无发票、无资金划拨的虚拟空转；真实资金结算按月对账、往来余额轧平清零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常见问答（FAQ）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模块四 · 答疑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47120" cy="5120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Q1 加成比例谁维护、依据是什么？→ BAA.11（内部交易类型 × 预算项目）由客户财务维护，依据服务费定价政策；顾问负责配置与复核计算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Q2 同法人的“代采购”要不要填加成？→ 不构成内部交易，加成比例留「—」、加成款为 0，不触发跨法人代采购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Q3 法人之间的代采购要不要考虑预付款？→ 不考虑。关联交易表只列到货额与加成款；预付款／验收付款属对外采购付款，只在采购侧与财务视角体现（驱动 CF-05 / CF-14）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Q4 内部往来能不能年末一次性清理？→ 不能，须按月结算（银行划款或资金池）；月度不结清会导致现金流量表内部对冲与货币资金勾稽不符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Q5 递延所得税税率用多少？→ 取所属法人适用所得税率（示例口径 25%），实施时按客户实际税率配置并写入方案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▪ Q6 存量资产内部转卖的加成怎么处理？→ 卖方计入 6115 资产处置收益，合并层全额抵销卖方收益与买方资产增值，并同步冲减多计提折旧与递延所得税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92640" cy="5486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附 · 表号与科目速查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BFD3EC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5895" y="6473952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70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关联交易设计与集团合并抵销 · 实施顾问培训 | 设备制造行业全面预算系统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914400"/>
          <a:ext cx="557784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1148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表号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BJ.C.a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代采购物料查询表（只读镜像 BB.3.3.D）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BJ.C.e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代采购资产查询表（只读镜像 BB.3.1.D）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BJ.C.d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资产转卖预算表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BJ.C.f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内部借款预算表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BJ.C.g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内部销售预算（只读查询）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BJ.C.R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集团合并抵销规则（规则一~七）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BO.ELIM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集团合并抵销工作底稿（ELIM-01~06）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914400"/>
          <a:ext cx="5486399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749039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科目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 / 用途</a:t>
                      </a:r>
                    </a:p>
                  </a:txBody>
                  <a:tcPr marL="54864" marR="54864" marT="18288" marB="18288" anchor="ctr">
                    <a:solidFill>
                      <a:srgbClr val="002F6C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1221.1 / 2241.1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其他应收款 / 应付款—内部往来（专用科目）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6001.2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其他业务收入—内部往来（内部销售、租赁、加成款）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6401.1 / 6401.2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主营业务成本 / 其他业务成本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1405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存货（期末未实现内部加成抵减）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1601 / 1602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固定资产—原价 / 累计折旧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1621 / 2602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使用权资产 / 租赁负债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1811 / 6801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递延所得税资产 / 所得税费用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6115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资产处置收益（内部转卖加成，合并层抵销）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FBAE2"/>
                </a:solidFill>
                <a:latin typeface="微软雅黑"/>
                <a:ea typeface="微软雅黑"/>
                <a:cs typeface="微软雅黑"/>
              </a:rPr>
              <a:t>内容出处：BJ.C.R 集团合并抵销规则 · BO.ELIM 集团合并抵销工作底稿 · T5 内部关联交易方案 · AA / AB / BAA 主数据与参数表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8FA6C4"/>
                </a:solidFill>
                <a:latin typeface="微软雅黑"/>
                <a:ea typeface="微软雅黑"/>
                <a:cs typeface="微软雅黑"/>
              </a:rPr>
              <a:t>设备制造行业全面预算编制与分析系统  |  实施顾问培训材料  |  2026-09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